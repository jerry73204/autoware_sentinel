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1" r:id="rId3"/>
  </p:sldMasterIdLst>
  <p:notesMasterIdLst>
    <p:notesMasterId r:id="rId10"/>
  </p:notesMasterIdLst>
  <p:sldIdLst>
    <p:sldId id="256" r:id="rId8"/>
    <p:sldId id="257" r:id="rId9"/>
    <p:sldId id="258" r:id="rId7"/>
    <p:sldId id="259" r:id="rId6"/>
    <p:sldId id="260" r:id="rId5"/>
    <p:sldId id="261" r:id="rId4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43" name="Shape 44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 panose="020B0604020202020204"/>
      </a:defRPr>
    </a:lvl1pPr>
    <a:lvl2pPr indent="228600" latinLnBrk="0">
      <a:defRPr sz="1400">
        <a:latin typeface="+mn-lt"/>
        <a:ea typeface="+mn-ea"/>
        <a:cs typeface="+mn-cs"/>
        <a:sym typeface="Arial" panose="020B0604020202020204"/>
      </a:defRPr>
    </a:lvl2pPr>
    <a:lvl3pPr indent="457200" latinLnBrk="0">
      <a:defRPr sz="1400">
        <a:latin typeface="+mn-lt"/>
        <a:ea typeface="+mn-ea"/>
        <a:cs typeface="+mn-cs"/>
        <a:sym typeface="Arial" panose="020B0604020202020204"/>
      </a:defRPr>
    </a:lvl3pPr>
    <a:lvl4pPr indent="685800" latinLnBrk="0">
      <a:defRPr sz="1400">
        <a:latin typeface="+mn-lt"/>
        <a:ea typeface="+mn-ea"/>
        <a:cs typeface="+mn-cs"/>
        <a:sym typeface="Arial" panose="020B0604020202020204"/>
      </a:defRPr>
    </a:lvl4pPr>
    <a:lvl5pPr indent="914400" latinLnBrk="0">
      <a:defRPr sz="1400">
        <a:latin typeface="+mn-lt"/>
        <a:ea typeface="+mn-ea"/>
        <a:cs typeface="+mn-cs"/>
        <a:sym typeface="Arial" panose="020B0604020202020204"/>
      </a:defRPr>
    </a:lvl5pPr>
    <a:lvl6pPr indent="1143000" latinLnBrk="0">
      <a:defRPr sz="1400">
        <a:latin typeface="+mn-lt"/>
        <a:ea typeface="+mn-ea"/>
        <a:cs typeface="+mn-cs"/>
        <a:sym typeface="Arial" panose="020B0604020202020204"/>
      </a:defRPr>
    </a:lvl6pPr>
    <a:lvl7pPr indent="1371600" latinLnBrk="0">
      <a:defRPr sz="1400">
        <a:latin typeface="+mn-lt"/>
        <a:ea typeface="+mn-ea"/>
        <a:cs typeface="+mn-cs"/>
        <a:sym typeface="Arial" panose="020B0604020202020204"/>
      </a:defRPr>
    </a:lvl7pPr>
    <a:lvl8pPr indent="1600200" latinLnBrk="0">
      <a:defRPr sz="1400">
        <a:latin typeface="+mn-lt"/>
        <a:ea typeface="+mn-ea"/>
        <a:cs typeface="+mn-cs"/>
        <a:sym typeface="Arial" panose="020B0604020202020204"/>
      </a:defRPr>
    </a:lvl8pPr>
    <a:lvl9pPr indent="1828800" latinLnBrk="0">
      <a:defRPr sz="1400">
        <a:latin typeface="+mn-lt"/>
        <a:ea typeface="+mn-ea"/>
        <a:cs typeface="+mn-cs"/>
        <a:sym typeface="Arial" panose="020B060402020202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73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08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10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112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2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35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137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4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59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0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70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8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86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19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20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21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5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272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289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91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308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4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25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326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328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3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0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41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2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51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353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4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6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66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7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7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86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7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8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9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0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402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0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1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2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3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3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73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sp>
        <p:nvSpPr>
          <p:cNvPr id="108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110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112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3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2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4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25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6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sp>
        <p:nvSpPr>
          <p:cNvPr id="135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36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137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8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4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9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59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0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70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1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2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73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4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82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83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4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185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86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19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9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20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08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9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1400"/>
          </a:p>
        </p:txBody>
      </p:sp>
      <p:pic>
        <p:nvPicPr>
          <p:cNvPr id="217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9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Text"/>
          <p:cNvSpPr txBox="1"/>
          <p:nvPr>
            <p:ph type="title" hasCustomPrompt="1"/>
          </p:nvPr>
        </p:nvSpPr>
        <p:spPr>
          <a:xfrm>
            <a:off x="311708" y="744573"/>
            <a:ext cx="8520601" cy="2052603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228" name="Body Level One…"/>
          <p:cNvSpPr txBox="1"/>
          <p:nvPr>
            <p:ph type="body" sz="quarter" idx="1" hasCustomPrompt="1"/>
          </p:nvPr>
        </p:nvSpPr>
        <p:spPr>
          <a:xfrm>
            <a:off x="311698" y="2834125"/>
            <a:ext cx="8520603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Text"/>
          <p:cNvSpPr txBox="1"/>
          <p:nvPr>
            <p:ph type="title" hasCustomPrompt="1"/>
          </p:nvPr>
        </p:nvSpPr>
        <p:spPr>
          <a:xfrm>
            <a:off x="311698" y="2150848"/>
            <a:ext cx="8520603" cy="841802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5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4" name="Body Level One…"/>
          <p:cNvSpPr txBox="1"/>
          <p:nvPr>
            <p:ph type="body" sz="half" idx="1" hasCustomPrompt="1"/>
          </p:nvPr>
        </p:nvSpPr>
        <p:spPr>
          <a:xfrm>
            <a:off x="311698" y="1152475"/>
            <a:ext cx="3999903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5" name="Google Shape;23;p5"/>
          <p:cNvSpPr txBox="1"/>
          <p:nvPr>
            <p:ph type="body" sz="half" idx="21"/>
          </p:nvPr>
        </p:nvSpPr>
        <p:spPr>
          <a:xfrm>
            <a:off x="4832398" y="1152475"/>
            <a:ext cx="3999903" cy="34164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itle Text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itle Text"/>
          <p:cNvSpPr txBox="1"/>
          <p:nvPr>
            <p:ph type="title" hasCustomPrompt="1"/>
          </p:nvPr>
        </p:nvSpPr>
        <p:spPr>
          <a:xfrm>
            <a:off x="311698" y="555600"/>
            <a:ext cx="2808003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272" name="Body Level One…"/>
          <p:cNvSpPr txBox="1"/>
          <p:nvPr>
            <p:ph type="body" sz="quarter" idx="1" hasCustomPrompt="1"/>
          </p:nvPr>
        </p:nvSpPr>
        <p:spPr>
          <a:xfrm>
            <a:off x="311698" y="1389598"/>
            <a:ext cx="2808003" cy="3179403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itle Text"/>
          <p:cNvSpPr txBox="1"/>
          <p:nvPr>
            <p:ph type="title" hasCustomPrompt="1"/>
          </p:nvPr>
        </p:nvSpPr>
        <p:spPr>
          <a:xfrm>
            <a:off x="490250" y="450148"/>
            <a:ext cx="6367801" cy="4090803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2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36;p9"/>
          <p:cNvSpPr/>
          <p:nvPr/>
        </p:nvSpPr>
        <p:spPr>
          <a:xfrm>
            <a:off x="4572000" y="-126"/>
            <a:ext cx="4572000" cy="5143503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/>
        </p:txBody>
      </p:sp>
      <p:sp>
        <p:nvSpPr>
          <p:cNvPr id="289" name="Title Text"/>
          <p:cNvSpPr txBox="1"/>
          <p:nvPr>
            <p:ph type="title" hasCustomPrompt="1"/>
          </p:nvPr>
        </p:nvSpPr>
        <p:spPr>
          <a:xfrm>
            <a:off x="265500" y="1233175"/>
            <a:ext cx="4045200" cy="1482302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290" name="Body Level One…"/>
          <p:cNvSpPr txBox="1"/>
          <p:nvPr>
            <p:ph type="body" sz="quarter" idx="1" hasCustomPrompt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91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3"/>
          </a:xfrm>
          <a:prstGeom prst="rect">
            <a:avLst/>
          </a:prstGeom>
        </p:spPr>
        <p:txBody>
          <a:bodyPr anchor="ctr"/>
          <a:lstStyle/>
          <a:p/>
        </p:txBody>
      </p:sp>
      <p:sp>
        <p:nvSpPr>
          <p:cNvPr id="2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Body Level One…"/>
          <p:cNvSpPr txBox="1"/>
          <p:nvPr>
            <p:ph type="body" sz="quarter" idx="1" hasCustomPrompt="1"/>
          </p:nvPr>
        </p:nvSpPr>
        <p:spPr>
          <a:xfrm>
            <a:off x="311698" y="4230575"/>
            <a:ext cx="5998804" cy="605102"/>
          </a:xfrm>
          <a:prstGeom prst="rect">
            <a:avLst/>
          </a:prstGeom>
        </p:spPr>
        <p:txBody>
          <a:bodyPr anchor="ctr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xx%"/>
          <p:cNvSpPr txBox="1"/>
          <p:nvPr>
            <p:ph type="title" hasCustomPrompt="1"/>
          </p:nvPr>
        </p:nvSpPr>
        <p:spPr>
          <a:xfrm>
            <a:off x="311698" y="1106125"/>
            <a:ext cx="8520603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xx%</a:t>
            </a:r>
          </a:p>
        </p:txBody>
      </p:sp>
      <p:sp>
        <p:nvSpPr>
          <p:cNvPr id="308" name="Body Level One…"/>
          <p:cNvSpPr txBox="1"/>
          <p:nvPr>
            <p:ph type="body" sz="half" idx="1" hasCustomPrompt="1"/>
          </p:nvPr>
        </p:nvSpPr>
        <p:spPr>
          <a:xfrm>
            <a:off x="311698" y="3152225"/>
            <a:ext cx="8520603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58;p14"/>
          <p:cNvSpPr/>
          <p:nvPr/>
        </p:nvSpPr>
        <p:spPr>
          <a:xfrm>
            <a:off x="-20437" y="1710258"/>
            <a:ext cx="9265802" cy="22017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24" name="Title Text"/>
          <p:cNvSpPr txBox="1"/>
          <p:nvPr>
            <p:ph type="title" hasCustomPrompt="1"/>
          </p:nvPr>
        </p:nvSpPr>
        <p:spPr>
          <a:xfrm>
            <a:off x="4316803" y="1797455"/>
            <a:ext cx="4704902" cy="10143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25" name="Body Level One…"/>
          <p:cNvSpPr txBox="1"/>
          <p:nvPr>
            <p:ph type="body" sz="quarter" idx="1" hasCustomPrompt="1"/>
          </p:nvPr>
        </p:nvSpPr>
        <p:spPr>
          <a:xfrm>
            <a:off x="4391025" y="2537460"/>
            <a:ext cx="4556701" cy="12858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indent="228600">
              <a:lnSpc>
                <a:spcPct val="100000"/>
              </a:lnSpc>
              <a:spcBef>
                <a:spcPts val="1200"/>
              </a:spcBef>
              <a:buClrTx/>
              <a:buSzTx/>
              <a:buFontTx/>
              <a:buNone/>
              <a:defRPr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326" name="Google Shape;61;p14" descr="Google Shape;61;p14"/>
          <p:cNvPicPr>
            <a:picLocks noChangeAspect="1"/>
          </p:cNvPicPr>
          <p:nvPr/>
        </p:nvPicPr>
        <p:blipFill>
          <a:blip r:embed="rId3"/>
          <a:srcRect l="4387" t="12167" r="4396" b="12167"/>
          <a:stretch>
            <a:fillRect/>
          </a:stretch>
        </p:blipFill>
        <p:spPr>
          <a:xfrm>
            <a:off x="367418" y="1955562"/>
            <a:ext cx="3002391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Google Shape;62;p14"/>
          <p:cNvSpPr txBox="1"/>
          <p:nvPr>
            <p:ph type="body" sz="quarter" idx="21"/>
          </p:nvPr>
        </p:nvSpPr>
        <p:spPr>
          <a:xfrm>
            <a:off x="2614611" y="4751508"/>
            <a:ext cx="4353003" cy="172802"/>
          </a:xfrm>
          <a:prstGeom prst="rect">
            <a:avLst/>
          </a:prstGeom>
        </p:spPr>
        <p:txBody>
          <a:bodyPr lIns="50800" tIns="50800" rIns="50800" bIns="50800" anchor="b"/>
          <a:lstStyle/>
          <a:p>
            <a:pPr marL="182880" indent="-137160" defTabSz="365760">
              <a:buSzPts val="700"/>
              <a:defRPr sz="720"/>
            </a:pPr>
          </a:p>
        </p:txBody>
      </p:sp>
      <p:pic>
        <p:nvPicPr>
          <p:cNvPr id="328" name="Google Shape;63;p14" descr="Google Shape;63;p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1173" y="3396979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9" name="Google Shape;64;p14" descr="Google Shape;64;p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8" y="3439292"/>
            <a:ext cx="982217" cy="23084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3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3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0" name="Title Text"/>
          <p:cNvSpPr txBox="1"/>
          <p:nvPr>
            <p:ph type="title" hasCustomPrompt="1"/>
          </p:nvPr>
        </p:nvSpPr>
        <p:spPr>
          <a:xfrm>
            <a:off x="505420" y="86321"/>
            <a:ext cx="8043302" cy="4800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41" name="Body Level One…"/>
          <p:cNvSpPr txBox="1"/>
          <p:nvPr>
            <p:ph type="body" idx="1" hasCustomPrompt="1"/>
          </p:nvPr>
        </p:nvSpPr>
        <p:spPr>
          <a:xfrm>
            <a:off x="486372" y="1076599"/>
            <a:ext cx="8304301" cy="37926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42" name="Google Shape;70;p15"/>
          <p:cNvSpPr txBox="1"/>
          <p:nvPr>
            <p:ph type="body" sz="quarter" idx="21"/>
          </p:nvPr>
        </p:nvSpPr>
        <p:spPr>
          <a:xfrm>
            <a:off x="538945" y="615591"/>
            <a:ext cx="6713700" cy="252002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292735" indent="-219710" defTabSz="585470">
              <a:buSzPts val="1100"/>
              <a:defRPr sz="1150"/>
            </a:pPr>
          </a:p>
        </p:txBody>
      </p:sp>
      <p:sp>
        <p:nvSpPr>
          <p:cNvPr id="34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72;p16"/>
          <p:cNvSpPr/>
          <p:nvPr/>
        </p:nvSpPr>
        <p:spPr>
          <a:xfrm>
            <a:off x="4561087" y="0"/>
            <a:ext cx="4581903" cy="5143500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351" name="Title Text"/>
          <p:cNvSpPr txBox="1"/>
          <p:nvPr>
            <p:ph type="title" hasCustomPrompt="1"/>
          </p:nvPr>
        </p:nvSpPr>
        <p:spPr>
          <a:xfrm>
            <a:off x="367900" y="2136967"/>
            <a:ext cx="3987002" cy="869702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52" name="Google Shape;74;p16"/>
          <p:cNvSpPr txBox="1"/>
          <p:nvPr/>
        </p:nvSpPr>
        <p:spPr>
          <a:xfrm>
            <a:off x="5416108" y="3428515"/>
            <a:ext cx="3115802" cy="44314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marR="3810" indent="5080" algn="ctr">
              <a:lnSpc>
                <a:spcPct val="115000"/>
              </a:lnSpc>
              <a:defRPr sz="15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The first all-in-one open source  software for autonomous driving</a:t>
            </a:r>
          </a:p>
        </p:txBody>
      </p:sp>
      <p:pic>
        <p:nvPicPr>
          <p:cNvPr id="353" name="Google Shape;75;p16" descr="Google Shape;75;p16"/>
          <p:cNvPicPr>
            <a:picLocks noChangeAspect="1"/>
          </p:cNvPicPr>
          <p:nvPr/>
        </p:nvPicPr>
        <p:blipFill>
          <a:blip r:embed="rId2"/>
          <a:srcRect l="4387" t="12167" r="4396" b="12167"/>
          <a:stretch>
            <a:fillRect/>
          </a:stretch>
        </p:blipFill>
        <p:spPr>
          <a:xfrm>
            <a:off x="5350809" y="1460262"/>
            <a:ext cx="3002385" cy="1155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54" name="Body Level One…"/>
          <p:cNvSpPr txBox="1"/>
          <p:nvPr>
            <p:ph type="body" sz="quarter" idx="1" hasCustomPrompt="1"/>
          </p:nvPr>
        </p:nvSpPr>
        <p:spPr>
          <a:xfrm>
            <a:off x="443695" y="3063517"/>
            <a:ext cx="4023001" cy="252002"/>
          </a:xfrm>
          <a:prstGeom prst="rect">
            <a:avLst/>
          </a:prstGeom>
        </p:spPr>
        <p:txBody>
          <a:bodyPr lIns="50800" tIns="50800" rIns="50800" bIns="5080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826770" indent="-226695">
              <a:lnSpc>
                <a:spcPct val="100000"/>
              </a:lnSpc>
              <a:buClrTx/>
              <a:buSzPts val="1300"/>
              <a:buFontTx/>
              <a:buChar char="•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2839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7411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198370" indent="-226695">
              <a:lnSpc>
                <a:spcPct val="100000"/>
              </a:lnSpc>
              <a:buClrTx/>
              <a:buSzPts val="1300"/>
              <a:buFontTx/>
              <a:buChar char="-"/>
              <a:defRPr sz="1300" b="1">
                <a:solidFill>
                  <a:srgbClr val="A9A9A9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5" name="Slide Number"/>
          <p:cNvSpPr txBox="1"/>
          <p:nvPr>
            <p:ph type="sldNum" sz="quarter" idx="2"/>
          </p:nvPr>
        </p:nvSpPr>
        <p:spPr>
          <a:xfrm>
            <a:off x="4473346" y="4782787"/>
            <a:ext cx="196293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6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6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Title Text"/>
          <p:cNvSpPr txBox="1"/>
          <p:nvPr>
            <p:ph type="title" hasCustomPrompt="1"/>
          </p:nvPr>
        </p:nvSpPr>
        <p:spPr>
          <a:xfrm>
            <a:off x="581622" y="86321"/>
            <a:ext cx="6590101" cy="783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66" name="Body Level One…"/>
          <p:cNvSpPr txBox="1"/>
          <p:nvPr>
            <p:ph type="body" idx="1" hasCustomPrompt="1"/>
          </p:nvPr>
        </p:nvSpPr>
        <p:spPr>
          <a:xfrm>
            <a:off x="486372" y="918208"/>
            <a:ext cx="8304301" cy="3951002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‣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•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1432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Helvetica"/>
              <a:buChar char="-"/>
              <a:defRPr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67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75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76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7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78" name="Slide Number"/>
          <p:cNvSpPr txBox="1"/>
          <p:nvPr>
            <p:ph type="sldNum" sz="quarter" idx="2"/>
          </p:nvPr>
        </p:nvSpPr>
        <p:spPr>
          <a:xfrm>
            <a:off x="4515700" y="4782787"/>
            <a:ext cx="153925" cy="14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>
                <a:solidFill>
                  <a:srgbClr val="A7A7A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86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7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8" name="Title Text"/>
          <p:cNvSpPr txBox="1"/>
          <p:nvPr>
            <p:ph type="title" hasCustomPrompt="1"/>
          </p:nvPr>
        </p:nvSpPr>
        <p:spPr>
          <a:xfrm>
            <a:off x="158351" y="-17907"/>
            <a:ext cx="6002700" cy="47640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389" name="Body Level One…"/>
          <p:cNvSpPr txBox="1"/>
          <p:nvPr>
            <p:ph type="body" sz="quarter" idx="1" hasCustomPrompt="1"/>
          </p:nvPr>
        </p:nvSpPr>
        <p:spPr>
          <a:xfrm>
            <a:off x="663099" y="464058"/>
            <a:ext cx="5497803" cy="476402"/>
          </a:xfrm>
          <a:prstGeom prst="rect">
            <a:avLst/>
          </a:prstGeom>
        </p:spPr>
        <p:txBody>
          <a:bodyPr lIns="0" tIns="0" rIns="0" bIns="0"/>
          <a:lstStyle>
            <a:lvl1pPr marL="0" indent="228600">
              <a:lnSpc>
                <a:spcPct val="100000"/>
              </a:lnSpc>
              <a:buClrTx/>
              <a:buSzTx/>
              <a:buFontTx/>
              <a:buNone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123950" indent="-523875">
              <a:lnSpc>
                <a:spcPct val="100000"/>
              </a:lnSpc>
              <a:buClrTx/>
              <a:buSzPts val="3000"/>
              <a:buFontTx/>
              <a:buChar char="•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5811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0383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495550" indent="-523875">
              <a:lnSpc>
                <a:spcPct val="100000"/>
              </a:lnSpc>
              <a:buClrTx/>
              <a:buSzPts val="3000"/>
              <a:buFontTx/>
              <a:buChar char="-"/>
              <a:defRPr sz="3000">
                <a:solidFill>
                  <a:srgbClr val="A7A7A7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90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, &amp; Photo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398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9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0" name="Title Text"/>
          <p:cNvSpPr txBox="1"/>
          <p:nvPr>
            <p:ph type="title" hasCustomPrompt="1"/>
          </p:nvPr>
        </p:nvSpPr>
        <p:spPr>
          <a:xfrm>
            <a:off x="343494" y="191096"/>
            <a:ext cx="8457003" cy="468901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01" name="Google Shape;92;p20"/>
          <p:cNvSpPr/>
          <p:nvPr>
            <p:ph type="pic" sz="half" idx="21"/>
          </p:nvPr>
        </p:nvSpPr>
        <p:spPr>
          <a:xfrm>
            <a:off x="4999863" y="554421"/>
            <a:ext cx="3578100" cy="4290301"/>
          </a:xfrm>
          <a:prstGeom prst="rect">
            <a:avLst/>
          </a:prstGeom>
          <a:ln w="9525">
            <a:solidFill>
              <a:srgbClr val="000000"/>
            </a:solidFill>
            <a:round/>
          </a:ln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402" name="Body Level One…"/>
          <p:cNvSpPr txBox="1"/>
          <p:nvPr>
            <p:ph type="body" sz="half" idx="1" hasCustomPrompt="1"/>
          </p:nvPr>
        </p:nvSpPr>
        <p:spPr>
          <a:xfrm>
            <a:off x="513587" y="707064"/>
            <a:ext cx="4015200" cy="4131601"/>
          </a:xfrm>
          <a:prstGeom prst="rect">
            <a:avLst/>
          </a:prstGeom>
        </p:spPr>
        <p:txBody>
          <a:bodyPr lIns="0" tIns="0" rIns="0" bIns="0"/>
          <a:lstStyle>
            <a:lvl1pPr indent="-37592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‣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•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indent="-339090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SzPts val="2300"/>
              <a:buFont typeface="Helvetica"/>
              <a:buChar char="๏"/>
              <a:defRPr sz="2300">
                <a:solidFill>
                  <a:srgbClr val="535353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03" name="Slide Number"/>
          <p:cNvSpPr txBox="1"/>
          <p:nvPr>
            <p:ph type="sldNum" sz="quarter" idx="2"/>
          </p:nvPr>
        </p:nvSpPr>
        <p:spPr>
          <a:xfrm>
            <a:off x="4539764" y="4781550"/>
            <a:ext cx="269987" cy="265621"/>
          </a:xfrm>
          <a:prstGeom prst="rect">
            <a:avLst/>
          </a:prstGeom>
        </p:spPr>
        <p:txBody>
          <a:bodyPr lIns="64275" tIns="64275" rIns="64275" bIns="64275" anchor="t">
            <a:spAutoFit/>
          </a:bodyPr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1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1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8490412" y="4783454"/>
            <a:ext cx="196292" cy="18587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300">
                <a:solidFill>
                  <a:srgbClr val="88888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21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22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3" name="Title Text"/>
          <p:cNvSpPr txBox="1"/>
          <p:nvPr>
            <p:ph type="title" hasCustomPrompt="1"/>
          </p:nvPr>
        </p:nvSpPr>
        <p:spPr>
          <a:xfrm>
            <a:off x="1004150" y="1751764"/>
            <a:ext cx="7136701" cy="1022401"/>
          </a:xfrm>
          <a:prstGeom prst="rect">
            <a:avLst/>
          </a:prstGeom>
        </p:spPr>
        <p:txBody>
          <a:bodyPr anchor="b"/>
          <a:lstStyle>
            <a:lvl1pPr algn="ctr">
              <a:defRPr sz="54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24" name="Body Level One…"/>
          <p:cNvSpPr txBox="1"/>
          <p:nvPr>
            <p:ph type="body" sz="quarter" idx="1" hasCustomPrompt="1"/>
          </p:nvPr>
        </p:nvSpPr>
        <p:spPr>
          <a:xfrm>
            <a:off x="2137224" y="2850039"/>
            <a:ext cx="4870502" cy="792602"/>
          </a:xfrm>
          <a:prstGeom prst="rect">
            <a:avLst/>
          </a:prstGeom>
        </p:spPr>
        <p:txBody>
          <a:bodyPr/>
          <a:lstStyle>
            <a:lvl1pPr marL="228600" indent="-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" indent="114300" algn="ctr">
              <a:lnSpc>
                <a:spcPct val="100000"/>
              </a:lnSpc>
              <a:buClrTx/>
              <a:buSzTx/>
              <a:buFontTx/>
              <a:buNone/>
              <a:defRPr sz="24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defRPr>
            </a:lvl5pPr>
          </a:lstStyle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25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7A7A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54;p13"/>
          <p:cNvSpPr/>
          <p:nvPr/>
        </p:nvSpPr>
        <p:spPr>
          <a:xfrm>
            <a:off x="8257030" y="4727447"/>
            <a:ext cx="788702" cy="3156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0" tIns="0" rIns="0" bIns="0" anchor="ctr"/>
          <a:lstStyle/>
          <a:p>
            <a:pPr>
              <a:defRPr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pic>
        <p:nvPicPr>
          <p:cNvPr id="433" name="Google Shape;55;p13" descr="Google Shape;55;p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508" y="4727447"/>
            <a:ext cx="1429406" cy="3154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34" name="Google Shape;56;p13" descr="Google Shape;56;p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983" y="4769758"/>
            <a:ext cx="982217" cy="2308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5" name="Title Text"/>
          <p:cNvSpPr txBox="1"/>
          <p:nvPr>
            <p:ph type="title" hasCustomPrompt="1"/>
          </p:nvPr>
        </p:nvSpPr>
        <p:spPr>
          <a:xfrm>
            <a:off x="311698" y="814799"/>
            <a:ext cx="8571303" cy="942002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rgbClr val="5E90E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r>
              <a:t>Title Text</a:t>
            </a:r>
          </a:p>
        </p:txBody>
      </p:sp>
      <p:sp>
        <p:nvSpPr>
          <p:cNvPr id="436" name="Slide Number"/>
          <p:cNvSpPr txBox="1"/>
          <p:nvPr>
            <p:ph type="sldNum" sz="quarter" idx="2"/>
          </p:nvPr>
        </p:nvSpPr>
        <p:spPr>
          <a:xfrm>
            <a:off x="8696874" y="4700057"/>
            <a:ext cx="324285" cy="3199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0.xml"/><Relationship Id="rId29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75.xml"/><Relationship Id="rId34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78.xml"/><Relationship Id="rId37" Type="http://schemas.openxmlformats.org/officeDocument/2006/relationships/slideLayout" Target="../slideLayouts/slideLayout79.xml"/><Relationship Id="rId38" Type="http://schemas.openxmlformats.org/officeDocument/2006/relationships/slideLayout" Target="../slideLayouts/slideLayout80.xml"/><Relationship Id="rId39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2.xml"/><Relationship Id="rId41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84.xml"/><Relationship Id="rId4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 hasCustomPrompt="1"/>
          </p:nvPr>
        </p:nvSpPr>
        <p:spPr>
          <a:xfrm>
            <a:off x="311698" y="445025"/>
            <a:ext cx="8520603" cy="572702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11698" y="1152475"/>
            <a:ext cx="8520603" cy="3416400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8" y="4700820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1005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462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19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3768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8340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291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748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05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 hasCustomPrompt="1"/>
          </p:nvPr>
        </p:nvSpPr>
        <p:spPr>
          <a:xfrm>
            <a:off x="311698" y="445025"/>
            <a:ext cx="8520603" cy="572702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311698" y="1152475"/>
            <a:ext cx="8520603" cy="3416400"/>
          </a:xfrm>
          <a:prstGeom prst="rect">
            <a:avLst/>
          </a:prstGeom>
          <a:ln w="12700">
            <a:miter lim="400000"/>
          </a:ln>
        </p:spPr>
        <p:txBody>
          <a:bodyPr lIns="91423" tIns="91423" rIns="91423" bIns="91423">
            <a:normAutofit/>
          </a:bodyPr>
          <a:lstStyle/>
          <a:p>
            <a:r>
              <a:t>Body Level One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8" y="4700820"/>
            <a:ext cx="336812" cy="318394"/>
          </a:xfrm>
          <a:prstGeom prst="rect">
            <a:avLst/>
          </a:prstGeom>
          <a:ln w="12700">
            <a:miter lim="400000"/>
          </a:ln>
        </p:spPr>
        <p:txBody>
          <a:bodyPr wrap="none" lIns="91423" tIns="91423" rIns="91423" bIns="91423" anchor="ctr">
            <a:normAutofit/>
          </a:bodyPr>
          <a:lstStyle>
            <a:lvl1pPr algn="r">
              <a:defRPr sz="1000">
                <a:solidFill>
                  <a:srgbClr val="58585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1005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462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19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3768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8340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2912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●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7484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○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05605" marR="0" indent="-408305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rgbClr val="585858"/>
        </a:buClr>
        <a:buSzPts val="1800"/>
        <a:buFont typeface="Arial" panose="020B0604020202020204"/>
        <a:buChar char="■"/>
        <a:defRPr sz="1800" b="0" i="0" u="none" strike="noStrike" cap="none" spc="0" baseline="0">
          <a:solidFill>
            <a:srgbClr val="585858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Autoware Safety Island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Building a Fail-Safe Companion with nano-ros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Why a Safety Island?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1F1F"/>
                </a:solidFill>
              </a:defRPr>
            </a:pPr>
            <a:r>
              <a:t>The main compute runs hundreds of nodes on Linux — complex, non-deterministic, hard to certify.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62828"/>
                </a:solidFill>
              </a:defRPr>
            </a:pPr>
            <a:r>
              <a:t>If it hangs, who stops the car?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1F1F"/>
                </a:solidFill>
              </a:defRPr>
            </a:pPr>
            <a:r>
              <a:t>An independent MCU that monitors the main compute and brings the vehicle to a controlled stop.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2286000"/>
          <a:ext cx="67665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256032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Main Compute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Safety Island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Hardware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Cortex-A (Orin, x86)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Cortex-M/R (MCU)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Linux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RTOS / bare-metal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Millions of LOC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Single binary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Certification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QM–ASIL B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ASIL C/D target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Failure mode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Detectable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Must not fail</a:t>
                      </a:r>
                    </a:p>
                  </a:txBody>
                  <a:tcPr anchor="ctr" marT="25400" marB="25400" marL="7620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480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1">
                <a:solidFill>
                  <a:srgbClr val="666666"/>
                </a:solidFill>
              </a:defRPr>
            </a:pPr>
            <a:r>
              <a:t>Industry practice: NVIDIA DRIVE [1], Apex.AI [2], eSOL eMCOS [3] all use this pattern.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Autoware Sentinel — Our Reference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1F1F"/>
                </a:solidFill>
              </a:defRPr>
            </a:pPr>
            <a:r>
              <a:t>A single #![no_std] Rust binary replacing 7 Autoware safety nodes. 30 Hz deterministic loop. Zero heap allocation.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486400" cy="2931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28016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Heartbeat watchdog detects main compute failure (500 ms)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MRM handler activates emergency or comfortable stop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Vehicle command gate enforces rate/jerk limits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Control validator checks safety bounds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5 topics in, 30 topics out</a:t>
            </a:r>
          </a:p>
          <a:p>
            <a:pPr>
              <a:spcBef>
                <a:spcPts val="400"/>
              </a:spcBef>
              <a:defRPr sz="1100">
                <a:solidFill>
                  <a:srgbClr val="1F1F1F"/>
                </a:solidFill>
              </a:defRPr>
            </a:pPr>
            <a:r>
              <a:t>Connected via Zenoh (rmw_zenoh)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nano-ros: The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1F1F"/>
                </a:solidFill>
              </a:defRPr>
            </a:pPr>
            <a:r>
              <a:t>A no_std ROS 2 runtime for embedded real-time systems. API compatible — same programming model across languages.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4023360" cy="11887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737D"/>
                </a:solidFill>
                <a:latin typeface="Consolas"/>
              </a:rPr>
              <a:t>// Rust (rclrs-compatible)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FA2"/>
                </a:solidFill>
                <a:latin typeface="Consolas"/>
              </a:rPr>
              <a:t>let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mut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node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executor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create_node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0B7C3E"/>
                </a:solidFill>
                <a:latin typeface="Consolas"/>
              </a:rPr>
              <a:t>"safety"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?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FA2"/>
                </a:solidFill>
                <a:latin typeface="Consolas"/>
              </a:rPr>
              <a:t>let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pub_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node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create_publisher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&lt;</a:t>
            </a:r>
            <a:r>
              <a:rPr sz="1000">
                <a:solidFill>
                  <a:srgbClr val="095BAD"/>
                </a:solidFill>
                <a:latin typeface="Consolas"/>
              </a:rPr>
              <a:t>Control</a:t>
            </a:r>
            <a:r>
              <a:rPr sz="1000">
                <a:solidFill>
                  <a:srgbClr val="1F1F1F"/>
                </a:solidFill>
                <a:latin typeface="Consolas"/>
              </a:rPr>
              <a:t>&gt;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0B7C3E"/>
                </a:solidFill>
                <a:latin typeface="Consolas"/>
              </a:rPr>
              <a:t>"/cmd"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?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FA2"/>
                </a:solidFill>
                <a:latin typeface="Consolas"/>
              </a:rPr>
              <a:t>let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_sub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node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create_subscription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B7C3E"/>
                </a:solidFill>
                <a:latin typeface="Consolas"/>
              </a:rPr>
              <a:t>"/vel"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|</a:t>
            </a:r>
            <a:r>
              <a:rPr sz="1000">
                <a:solidFill>
                  <a:srgbClr val="1F1F1F"/>
                </a:solidFill>
                <a:latin typeface="Consolas"/>
              </a:rPr>
              <a:t>msg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VelocityReport</a:t>
            </a:r>
            <a:r>
              <a:rPr sz="1000">
                <a:solidFill>
                  <a:srgbClr val="1F1F1F"/>
                </a:solidFill>
                <a:latin typeface="Consolas"/>
              </a:rPr>
              <a:t>|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?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280160"/>
            <a:ext cx="4023360" cy="11887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737D"/>
                </a:solidFill>
                <a:latin typeface="Consolas"/>
              </a:rPr>
              <a:t>// C (rclc-compatible)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nros_node_t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node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nros_publisher_t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pub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nros_create_node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&amp;</a:t>
            </a:r>
            <a:r>
              <a:rPr sz="1000">
                <a:solidFill>
                  <a:srgbClr val="1F1F1F"/>
                </a:solidFill>
                <a:latin typeface="Consolas"/>
              </a:rPr>
              <a:t>node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&amp;</a:t>
            </a:r>
            <a:r>
              <a:rPr sz="1000">
                <a:solidFill>
                  <a:srgbClr val="1F1F1F"/>
                </a:solidFill>
                <a:latin typeface="Consolas"/>
              </a:rPr>
              <a:t>exec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B7C3E"/>
                </a:solidFill>
                <a:latin typeface="Consolas"/>
              </a:rPr>
              <a:t>"safety"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nros_create_publisher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&amp;</a:t>
            </a:r>
            <a:r>
              <a:rPr sz="1000">
                <a:solidFill>
                  <a:srgbClr val="1F1F1F"/>
                </a:solidFill>
                <a:latin typeface="Consolas"/>
              </a:rPr>
              <a:t>pub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&amp;</a:t>
            </a:r>
            <a:r>
              <a:rPr sz="1000">
                <a:solidFill>
                  <a:srgbClr val="1F1F1F"/>
                </a:solidFill>
                <a:latin typeface="Consolas"/>
              </a:rPr>
              <a:t>node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B7C3E"/>
                </a:solidFill>
                <a:latin typeface="Consolas"/>
              </a:rPr>
              <a:t>"/cmd"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ts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2697480"/>
          <a:ext cx="8412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5836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Languages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Rust, C, freestanding C++14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Platforms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POSIX, Zephyr, FreeRTOS, NuttX, ThreadX, bare-metal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RMW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zenoh-pico, DDS-XRCE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Transport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TCP, UDP, serial (UART), IVC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Dev/test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Full stack runs in QEMU — no hardware needed</a:t>
                      </a:r>
                    </a:p>
                  </a:txBody>
                  <a:tcPr anchor="ctr" marT="25400" marB="25400" marL="76200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Why Rust for Safety-Critical Embedded?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1F1F"/>
                </a:solidFill>
              </a:defRPr>
            </a:pPr>
            <a:r>
              <a:t>no_std + alloc-free = bare-metal native. No runtime, no GC, no hidden allocations.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1F1F"/>
                </a:solidFill>
              </a:defRPr>
            </a:pPr>
            <a:r>
              <a:t>async/await with vendored runtime — the runtime is a library, not the language: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8412480" cy="246888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737D"/>
                </a:solidFill>
                <a:latin typeface="Consolas"/>
              </a:rPr>
              <a:t>// RTIC: interrupt-driven tasks with async/await on Cortex-M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F5C00"/>
                </a:solidFill>
                <a:latin typeface="Consolas"/>
              </a:rPr>
              <a:t>#[task(local = [executor], priority = 1)]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FA2"/>
                </a:solidFill>
                <a:latin typeface="Consolas"/>
              </a:rPr>
              <a:t>async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fn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net_poll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cx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net_poll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095BAD"/>
                </a:solidFill>
                <a:latin typeface="Consolas"/>
              </a:rPr>
              <a:t>Context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loop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cx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local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executor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spin_once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6A737D"/>
                </a:solidFill>
                <a:latin typeface="Consolas"/>
              </a:rPr>
              <a:t>// non-blocking I/O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Mono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delay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10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millis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 b="1">
                <a:solidFill>
                  <a:srgbClr val="7B1FA2"/>
                </a:solidFill>
                <a:latin typeface="Consolas"/>
              </a:rPr>
              <a:t>await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6A737D"/>
                </a:solidFill>
                <a:latin typeface="Consolas"/>
              </a:rPr>
              <a:t>// yields to lower-priority work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F5C00"/>
                </a:solidFill>
                <a:latin typeface="Consolas"/>
              </a:rPr>
              <a:t>#[task(local = [publisher], priority = 2)]  // preempts net_poll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FA2"/>
                </a:solidFill>
                <a:latin typeface="Consolas"/>
              </a:rPr>
              <a:t>async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fn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publish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cx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publish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095BAD"/>
                </a:solidFill>
                <a:latin typeface="Consolas"/>
              </a:rPr>
              <a:t>Context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737D"/>
                </a:solidFill>
                <a:latin typeface="Consolas"/>
              </a:rPr>
              <a:t>    // This task runs at higher priority — guaranteed to meet deadline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publisher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publish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&amp;</a:t>
            </a:r>
            <a:r>
              <a:rPr sz="1000">
                <a:solidFill>
                  <a:srgbClr val="095BAD"/>
                </a:solidFill>
                <a:latin typeface="Consolas"/>
              </a:rPr>
              <a:t>Control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velocity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?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1F1F"/>
                </a:solidFill>
              </a:defRPr>
            </a:pPr>
            <a:r>
              <a:t>Rich ecosystem: 4,000+ no_std crates on crates.io. Community-maintained HAL traits, drivers, and board support packages.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The Bare-Metal Software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1F1F"/>
                </a:solidFill>
              </a:defRPr>
            </a:pPr>
            <a:r>
              <a:t>“How can a program run without an OS?”  On a microcontroller, your binary is the only software. No kernel, no scheduler, no main() that returns to a shell. The hardware boots straight into your code.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600200"/>
            <a:ext cx="4389120" cy="5486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/>
          <a:lstStyle/>
          <a:p>
            <a:pPr algn="ctr">
              <a:defRPr sz="1200" b="1">
                <a:solidFill>
                  <a:srgbClr val="8B0000"/>
                </a:solidFill>
              </a:defRPr>
            </a:pPr>
            <a:r>
              <a:t>Application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Sentinel: watchdog, MRM, gate, validator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94560"/>
            <a:ext cx="4389120" cy="5486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/>
          <a:lstStyle/>
          <a:p>
            <a:pPr algn="ctr">
              <a:defRPr sz="1200" b="1">
                <a:solidFill>
                  <a:srgbClr val="1A3C6E"/>
                </a:solidFill>
              </a:defRPr>
            </a:pPr>
            <a:r>
              <a:t>nano-ros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ROS 2 API: Node, Publisher, Subscriber, Executor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88920"/>
            <a:ext cx="4389120" cy="5486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RTIC framework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Priority scheduler — maps tasks to HW interrupts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383280"/>
            <a:ext cx="4389120" cy="5486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/>
          <a:lstStyle/>
          <a:p>
            <a:pPr algn="ctr">
              <a:defRPr sz="1200" b="1">
                <a:solidFill>
                  <a:srgbClr val="E65C00"/>
                </a:solidFill>
              </a:defRPr>
            </a:pPr>
            <a:r>
              <a:t>Hardware Abstraction Layer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Rust PAC/HAL: GPIO, UART, SPI, Ethernet, Timer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977640"/>
            <a:ext cx="4389120" cy="54864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/>
          <a:lstStyle/>
          <a:p>
            <a:pPr algn="ctr">
              <a:defRPr sz="1200" b="1">
                <a:solidFill>
                  <a:srgbClr val="555555"/>
                </a:solidFill>
              </a:defRPr>
            </a:pPr>
            <a:r>
              <a:t>Cortex-M / Cortex-R hardware</a:t>
            </a:r>
          </a:p>
          <a:p>
            <a:pPr>
              <a:defRPr sz="900">
                <a:solidFill>
                  <a:srgbClr val="666666"/>
                </a:solidFill>
              </a:defRPr>
            </a:pPr>
            <a:r>
              <a:t>NVIC, SysTick, MPU, DMA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5087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</a:defRPr>
            </a:pPr>
            <a:r>
              <a:t>Linux + ROS 2  vs.  Bare-metal + nano-ros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0" y="1828800"/>
          <a:ext cx="39319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43000"/>
                <a:gridCol w="11430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Linux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Bare-metal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App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ROS nodes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Sentinel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Middleware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rclcpp/rclrs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nano-ros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Transport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DDS (millions)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zenoh-pico (30k)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Scheduler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Linux kernel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RTIC (zero-cost)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Boot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U-Boot/GRUB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HAL + startup</a:t>
                      </a:r>
                    </a:p>
                  </a:txBody>
                  <a:tcPr anchor="ctr" marT="25400" marB="25400" marL="76200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0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62828"/>
                </a:solidFill>
              </a:defRPr>
            </a:pPr>
            <a:r>
              <a:t>Linux stack</a:t>
            </a:r>
            <a:br/>
            <a:r>
              <a:t>~10M+ lines of code</a:t>
            </a:r>
            <a:br/>
            <a:r>
              <a:t>Non-deterministic</a:t>
            </a:r>
            <a:br/>
            <a:r>
              <a:t>QM–ASIL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E7D32"/>
                </a:solidFill>
              </a:defRPr>
            </a:pPr>
            <a:r>
              <a:t>Bare-metal stack</a:t>
            </a:r>
            <a:br/>
            <a:r>
              <a:t>~50k lines of code</a:t>
            </a:r>
            <a:br/>
            <a:r>
              <a:t>Deterministic</a:t>
            </a:r>
            <a:br/>
            <a:r>
              <a:t>ASIL C/D certifiable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61772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1">
                <a:solidFill>
                  <a:srgbClr val="666666"/>
                </a:solidFill>
              </a:defRPr>
            </a:pPr>
            <a:r>
              <a:t>Each layer is small and auditable. No virtual memory, no syscalls. Every function call is a direct branch.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5.2  How RTIC Replaces an RTOS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1F1F"/>
                </a:solidFill>
              </a:defRPr>
            </a:pPr>
            <a:r>
              <a:t>A traditional RTOS provides: (1) a scheduler, (2) synchronization primitives, (3) memory management. RTIC eliminates all three by leveraging hardware interrupt priorities directly.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600200"/>
          <a:ext cx="84124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Concept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RTOS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RTIC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Task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OS thread (dedicated stack)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Interrupt handler (shared stack)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Scheduling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Software scheduler (tick-driven)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Hardware NVIC (zero-latency)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Software priority queue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Hardware priority register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Mutex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Runtime lock (can deadlock)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Priority ceiling (deadlock-free)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Context switch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Kernel save/restore (~μs)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HW interrupt entry (~12 cycles)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Footprint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Kernel + per-thread stacks (KB)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No kernel, single stack (~1 KB)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</a:defRPr>
            </a:pPr>
            <a:r>
              <a:t>Key insight: On Cortex-M, the NVIC (Nested Vectored Interrupt Controller) already implements a hardware priority-based preemptive scheduler. RTIC maps tasks onto interrupt vectors. The compiler statically verifies deadlock-freedom via the Stack Resource Policy (SRP) [5].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5.3  Anatomy of a Bare-Metal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754880" cy="402336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F5C00"/>
                </a:solidFill>
                <a:latin typeface="Consolas"/>
              </a:rPr>
              <a:t>#[rtic::app(device = stm32f4xx_hal::pac,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dispatchers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[</a:t>
            </a:r>
            <a:r>
              <a:rPr sz="1000">
                <a:solidFill>
                  <a:srgbClr val="1F1F1F"/>
                </a:solidFill>
                <a:latin typeface="Consolas"/>
              </a:rPr>
              <a:t>SPI1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SPI2</a:t>
            </a:r>
            <a:r>
              <a:rPr sz="1000">
                <a:solidFill>
                  <a:srgbClr val="1F1F1F"/>
                </a:solidFill>
                <a:latin typeface="Consolas"/>
              </a:rPr>
              <a:t>]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]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FA2"/>
                </a:solidFill>
                <a:latin typeface="Consolas"/>
              </a:rPr>
              <a:t>mod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app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F5C00"/>
                </a:solidFill>
                <a:latin typeface="Consolas"/>
              </a:rPr>
              <a:t>    #[shared]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struct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Shared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executor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Executor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6A737D"/>
                </a:solidFill>
                <a:latin typeface="Consolas"/>
              </a:rPr>
              <a:t>// nano-ros pub/sub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watchdog_ok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bool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6A737D"/>
                </a:solidFill>
                <a:latin typeface="Consolas"/>
              </a:rPr>
              <a:t>// heartbeat status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F5C00"/>
                </a:solidFill>
                <a:latin typeface="Consolas"/>
              </a:rPr>
              <a:t>    #[init]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fn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init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cx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init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095BAD"/>
                </a:solidFill>
                <a:latin typeface="Consolas"/>
              </a:rPr>
              <a:t>Context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-</a:t>
            </a:r>
            <a:r>
              <a:rPr sz="1000">
                <a:solidFill>
                  <a:srgbClr val="1F1F1F"/>
                </a:solidFill>
                <a:latin typeface="Consolas"/>
              </a:rPr>
              <a:t>&gt;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095BAD"/>
                </a:solidFill>
                <a:latin typeface="Consolas"/>
              </a:rPr>
              <a:t>Shared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Local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let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dp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cx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device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6A737D"/>
                </a:solidFill>
                <a:latin typeface="Consolas"/>
              </a:rPr>
              <a:t>// raw peripherals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let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executor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Executor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open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&amp;</a:t>
            </a:r>
            <a:r>
              <a:rPr sz="1000">
                <a:solidFill>
                  <a:srgbClr val="1F1F1F"/>
                </a:solidFill>
                <a:latin typeface="Consolas"/>
              </a:rPr>
              <a:t>config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unwrap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control_loop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spawn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unwrap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095BAD"/>
                </a:solidFill>
                <a:latin typeface="Consolas"/>
              </a:rPr>
              <a:t>Shared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executor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watchdog_ok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true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Local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led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timer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F5C00"/>
                </a:solidFill>
                <a:latin typeface="Consolas"/>
              </a:rPr>
              <a:t>    #[task(shared = [executor], priority = 1)]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async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fn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net_poll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 b="1">
                <a:solidFill>
                  <a:srgbClr val="7B1FA2"/>
                </a:solidFill>
                <a:latin typeface="Consolas"/>
              </a:rPr>
              <a:t>mut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cx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net_poll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095BAD"/>
                </a:solidFill>
                <a:latin typeface="Consolas"/>
              </a:rPr>
              <a:t>Context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loop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cx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shared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executor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lock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|</a:t>
            </a:r>
            <a:r>
              <a:rPr sz="1000">
                <a:solidFill>
                  <a:srgbClr val="1F1F1F"/>
                </a:solidFill>
                <a:latin typeface="Consolas"/>
              </a:rPr>
              <a:t>e</a:t>
            </a:r>
            <a:r>
              <a:rPr sz="1000">
                <a:solidFill>
                  <a:srgbClr val="1F1F1F"/>
                </a:solidFill>
                <a:latin typeface="Consolas"/>
              </a:rPr>
              <a:t>|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e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spin_once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Mono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delay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1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millis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 b="1">
                <a:solidFill>
                  <a:srgbClr val="7B1FA2"/>
                </a:solidFill>
                <a:latin typeface="Consolas"/>
              </a:rPr>
              <a:t>await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F5C00"/>
                </a:solidFill>
                <a:latin typeface="Consolas"/>
              </a:rPr>
              <a:t>    #[task(shared = [executor, watchdog_ok], priority = 2)]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async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fn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control_loop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 b="1">
                <a:solidFill>
                  <a:srgbClr val="7B1FA2"/>
                </a:solidFill>
                <a:latin typeface="Consolas"/>
              </a:rPr>
              <a:t>mut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cx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/</a:t>
            </a:r>
            <a:r>
              <a:rPr sz="1000">
                <a:solidFill>
                  <a:srgbClr val="1F1F1F"/>
                </a:solidFill>
                <a:latin typeface="Consolas"/>
              </a:rPr>
              <a:t>*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30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Hz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*</a:t>
            </a:r>
            <a:r>
              <a:rPr sz="1000">
                <a:solidFill>
                  <a:srgbClr val="1F1F1F"/>
                </a:solidFill>
                <a:latin typeface="Consolas"/>
              </a:rPr>
              <a:t>/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F5C00"/>
                </a:solidFill>
                <a:latin typeface="Consolas"/>
              </a:rPr>
              <a:t>    #[task(shared = [watchdog_ok], priority = 3)]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async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fn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brake_check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 b="1">
                <a:solidFill>
                  <a:srgbClr val="7B1FA2"/>
                </a:solidFill>
                <a:latin typeface="Consolas"/>
              </a:rPr>
              <a:t>mut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cx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/</a:t>
            </a:r>
            <a:r>
              <a:rPr sz="1000">
                <a:solidFill>
                  <a:srgbClr val="1F1F1F"/>
                </a:solidFill>
                <a:latin typeface="Consolas"/>
              </a:rPr>
              <a:t>*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highest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*</a:t>
            </a:r>
            <a:r>
              <a:rPr sz="1000">
                <a:solidFill>
                  <a:srgbClr val="1F1F1F"/>
                </a:solidFill>
                <a:latin typeface="Consolas"/>
              </a:rPr>
              <a:t>/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80" y="914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C6E"/>
                </a:solidFill>
              </a:defRPr>
            </a:pPr>
            <a:r>
              <a:t>#[shared]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</a:defRPr>
            </a:pPr>
            <a:r>
              <a:t>Resources accessed across tasks.</a:t>
            </a:r>
            <a:br/>
            <a:r>
              <a:t>Locked via priority ceiling —</a:t>
            </a:r>
            <a:br/>
            <a:r>
              <a:t>deadlock-free by 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645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3C6E"/>
                </a:solidFill>
              </a:defRPr>
            </a:pPr>
            <a:r>
              <a:t>#[init]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828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</a:defRPr>
            </a:pPr>
            <a:r>
              <a:t>Runs once at boot. Configures</a:t>
            </a:r>
            <a:br/>
            <a:r>
              <a:t>hardware, creates executor,</a:t>
            </a:r>
            <a:br/>
            <a:r>
              <a:t>spawns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3774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Priority 1: net_poll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560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</a:defRPr>
            </a:pPr>
            <a:r>
              <a:t>Lowest priority. Handles Zenoh</a:t>
            </a:r>
            <a:br/>
            <a:r>
              <a:t>I/O in idle time. Preemptible</a:t>
            </a:r>
            <a:br/>
            <a:r>
              <a:t>by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1089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C00"/>
                </a:solidFill>
              </a:defRPr>
            </a:pPr>
            <a:r>
              <a:t>Priority 2: control_loop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291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</a:defRPr>
            </a:pPr>
            <a:r>
              <a:t>30 Hz control cycle. Preempts</a:t>
            </a:r>
            <a:br/>
            <a:r>
              <a:t>net_poll, yields to brake_check.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38404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62828"/>
                </a:solidFill>
              </a:defRPr>
            </a:pPr>
            <a:r>
              <a:t>Priority 3: brake_check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40233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66666"/>
                </a:solidFill>
              </a:defRPr>
            </a:pPr>
            <a:r>
              <a:t>Highest priority. Never delayed</a:t>
            </a:r>
            <a:br/>
            <a:r>
              <a:t>by any other task. Checks</a:t>
            </a:r>
            <a:br/>
            <a:r>
              <a:t>heartbeat deadline.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5.4  Runtime Behavior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412480" cy="137160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95BAD"/>
                </a:solidFill>
                <a:latin typeface="Consolas"/>
              </a:rPr>
              <a:t>Time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──────────────────────────────────────────────────────────────►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95BAD"/>
                </a:solidFill>
                <a:latin typeface="Consolas"/>
              </a:rPr>
              <a:t>Priority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3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·········█·····················█·················█···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brake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↑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preempts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↑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preempts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95BAD"/>
                </a:solidFill>
                <a:latin typeface="Consolas"/>
              </a:rPr>
              <a:t>Priority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2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···██████·█████████████████████·███████████████··████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control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loop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runs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every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33ms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095BAD"/>
                </a:solidFill>
                <a:latin typeface="Consolas"/>
              </a:rPr>
              <a:t>Priority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1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██·····························█████████████████···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net_poll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runs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when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higher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priorities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are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idle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1F1F"/>
                </a:solidFill>
              </a:defRPr>
            </a:pPr>
            <a:r>
              <a:t>All three tasks share one stack — no per-task stack allocation needed.</a:t>
            </a:r>
            <a:br/>
            <a:r>
              <a:t>• brake_check (P3) always preempts   • control_loop (P2) preempts net_poll   • net_poll (P1) fills the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017520"/>
            <a:ext cx="2011680" cy="18288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 bIns="76200"/>
          <a:lstStyle/>
          <a:p>
            <a:pPr algn="ctr">
              <a:defRPr sz="1200" b="1">
                <a:solidFill>
                  <a:srgbClr val="1A3C6E"/>
                </a:solidFill>
              </a:defRPr>
            </a:pPr>
            <a:r>
              <a:t>Certification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One compilation unit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No OS kernel to qualify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Static stack bounds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HW-bounded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3017520"/>
            <a:ext cx="2011680" cy="18288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 bIns="76200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Reliability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No heap → no OOM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No threads → no deadlock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No dynamic dispatch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SRP-proven [5]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017520"/>
            <a:ext cx="2011680" cy="18288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 bIns="76200"/>
          <a:lstStyle/>
          <a:p>
            <a:pPr algn="ctr">
              <a:defRPr sz="1200" b="1">
                <a:solidFill>
                  <a:srgbClr val="E65C00"/>
                </a:solidFill>
              </a:defRPr>
            </a:pPr>
            <a:r>
              <a:t>Performance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~12 cycle context switch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No syscall overhead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Fits in 64–256 KB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Boot &lt; 10 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017520"/>
            <a:ext cx="2011680" cy="182880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 rIns="101600" bIns="76200"/>
          <a:lstStyle/>
          <a:p>
            <a:pPr algn="ctr">
              <a:defRPr sz="1200" b="1">
                <a:solidFill>
                  <a:srgbClr val="6A1B9A"/>
                </a:solidFill>
              </a:defRPr>
            </a:pPr>
            <a:r>
              <a:t>Development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Rust async/await syntax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cargo test on host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QEMU integration tests</a:t>
            </a:r>
          </a:p>
          <a:p>
            <a:pPr>
              <a:spcBef>
                <a:spcPts val="200"/>
              </a:spcBef>
              <a:defRPr sz="1000">
                <a:solidFill>
                  <a:srgbClr val="1F1F1F"/>
                </a:solidFill>
              </a:defRPr>
            </a:pPr>
            <a:r>
              <a:t>• No HW needed early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Formal Verification: Miri, Kani, Verus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1F1F"/>
                </a:solidFill>
              </a:defRPr>
            </a:pPr>
            <a:r>
              <a:t>Three tools, three scopes — all run on the actual Rust source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1F1F"/>
                </a:solidFill>
              </a:defRPr>
            </a:pPr>
            <a:r>
              <a:t>Miri — runtime UB detector. Catches: use-after-free, uninitialized reads, unbounded loops.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1F1F"/>
                </a:solidFill>
              </a:defRPr>
            </a:pPr>
            <a:r>
              <a:t>Kani — bounded model checking (exhaustive)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4023360" cy="25603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F5C00"/>
                </a:solidFill>
                <a:latin typeface="Consolas"/>
              </a:rPr>
              <a:t>#[kani::proof]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F5C00"/>
                </a:solidFill>
                <a:latin typeface="Consolas"/>
              </a:rPr>
              <a:t>#[kani::unwind(301)]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FA2"/>
                </a:solidFill>
                <a:latin typeface="Consolas"/>
              </a:rPr>
              <a:t>fn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convergence_from_20_mps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let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mut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op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EmergencyStopOperator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new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Params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default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op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set_initial_velocity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20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6A737D"/>
                </a:solidFill>
                <a:latin typeface="Consolas"/>
              </a:rPr>
              <a:t>// 72 km/h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op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operate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 b="1">
                <a:solidFill>
                  <a:srgbClr val="7B1FA2"/>
                </a:solidFill>
                <a:latin typeface="Consolas"/>
              </a:rPr>
              <a:t>true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let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dt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1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/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30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let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mut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step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0u32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while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op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velocity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&gt;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&amp;</a:t>
            </a:r>
            <a:r>
              <a:rPr sz="1000">
                <a:solidFill>
                  <a:srgbClr val="1F1F1F"/>
                </a:solidFill>
                <a:latin typeface="Consolas"/>
              </a:rPr>
              <a:t>&amp;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step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&lt;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300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op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update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dt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step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+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1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assert</a:t>
            </a:r>
            <a:r>
              <a:rPr sz="1000">
                <a:solidFill>
                  <a:srgbClr val="1F1F1F"/>
                </a:solidFill>
                <a:latin typeface="Consolas"/>
              </a:rPr>
              <a:t>!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op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velocity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0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737D"/>
                </a:solidFill>
                <a:latin typeface="Consolas"/>
              </a:rPr>
              <a:t>    // ← proved for ALL f32 paths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0876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1F1F"/>
                </a:solidFill>
              </a:defRPr>
            </a:pPr>
            <a:r>
              <a:t>Verus — unbounded deductive proofs (zero cost)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83080"/>
            <a:ext cx="4023360" cy="2560320"/>
          </a:xfrm>
          <a:prstGeom prst="rect">
            <a:avLst/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B1FA2"/>
                </a:solidFill>
                <a:latin typeface="Consolas"/>
              </a:rPr>
              <a:t>proof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fn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ramp_phase_terminates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s</a:t>
            </a:r>
            <a:r>
              <a:rPr sz="1000">
                <a:solidFill>
                  <a:srgbClr val="1F1F1F"/>
                </a:solidFill>
                <a:latin typeface="Consolas"/>
              </a:rPr>
              <a:t>: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095BAD"/>
                </a:solidFill>
                <a:latin typeface="Consolas"/>
              </a:rPr>
              <a:t>DecelState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requires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s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acceleration_mms2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&gt;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TARGET_ACCEL_MMS2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ensures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{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 b="1">
                <a:solidFill>
                  <a:srgbClr val="7B1FA2"/>
                </a:solidFill>
                <a:latin typeface="Consolas"/>
              </a:rPr>
              <a:t>let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next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decel_step</a:t>
            </a:r>
            <a:r>
              <a:rPr sz="1000">
                <a:solidFill>
                  <a:srgbClr val="1F1F1F"/>
                </a:solidFill>
                <a:latin typeface="Consolas"/>
              </a:rPr>
              <a:t>(</a:t>
            </a:r>
            <a:r>
              <a:rPr sz="1000">
                <a:solidFill>
                  <a:srgbClr val="1F1F1F"/>
                </a:solidFill>
                <a:latin typeface="Consolas"/>
              </a:rPr>
              <a:t>s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  <a:r>
              <a:rPr sz="1000">
                <a:solidFill>
                  <a:srgbClr val="1F1F1F"/>
                </a:solidFill>
                <a:latin typeface="Consolas"/>
              </a:rPr>
              <a:t>;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next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acceleration_mms2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&lt;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s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acceleration_mms2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|</a:t>
            </a:r>
            <a:r>
              <a:rPr sz="1000">
                <a:solidFill>
                  <a:srgbClr val="1F1F1F"/>
                </a:solidFill>
                <a:latin typeface="Consolas"/>
              </a:rPr>
              <a:t>|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next</a:t>
            </a:r>
            <a:r>
              <a:rPr sz="1000">
                <a:solidFill>
                  <a:srgbClr val="1F1F1F"/>
                </a:solidFill>
                <a:latin typeface="Consolas"/>
              </a:rPr>
              <a:t>.</a:t>
            </a:r>
            <a:r>
              <a:rPr sz="1000">
                <a:solidFill>
                  <a:srgbClr val="1F1F1F"/>
                </a:solidFill>
                <a:latin typeface="Consolas"/>
              </a:rPr>
              <a:t>acceleration_mms2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=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TARGET_ACCEL_MMS2</a:t>
            </a:r>
            <a:r>
              <a:rPr sz="1000">
                <a:solidFill>
                  <a:srgbClr val="1F1F1F"/>
                </a:solidFill>
                <a:latin typeface="Consolas"/>
              </a:rPr>
              <a:t>,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  <a:r>
              <a:rPr sz="1000">
                <a:solidFill>
                  <a:srgbClr val="1F1F1F"/>
                </a:solidFill>
                <a:latin typeface="Consolas"/>
              </a:rPr>
              <a:t>}</a:t>
            </a:r>
            <a:r>
              <a:rPr sz="1000">
                <a:solidFill>
                  <a:srgbClr val="1F1F1F"/>
                </a:solidFill>
                <a:latin typeface="Consolas"/>
              </a:rPr>
              <a:t>)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1F1F1F"/>
                </a:solidFill>
                <a:latin typeface="Consolas"/>
              </a:rPr>
              <a:t> 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737D"/>
                </a:solidFill>
                <a:latin typeface="Consolas"/>
              </a:rPr>
              <a:t>// Verus proofs verify end-to-end: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737D"/>
                </a:solidFill>
                <a:latin typeface="Consolas"/>
              </a:rPr>
              <a:t>// reliability, latency bounds,</a:t>
            </a:r>
          </a:p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737D"/>
                </a:solidFill>
                <a:latin typeface="Consolas"/>
              </a:rPr>
              <a:t>// state machine invariants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66666"/>
                </a:solidFill>
              </a:defRPr>
            </a:pPr>
            <a:r>
              <a:t>Proofs live alongside production code. Verus compiles away — zero runtime cost.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Network Safety &amp; Target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1F1F"/>
                </a:solidFill>
              </a:defRPr>
            </a:pPr>
            <a:r>
              <a:t>TSN: Deterministic Network Guarantees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384048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Standard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What it does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Safety value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802.1AS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Sub-microsecond time sync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Coordinated scheduling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802.1Qbv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Scheduled traffic windows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Provable worst-case latency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802.1Qci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Per-stream policing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Babbling idiot protection (FFI)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802.1CB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Frame replication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Seamless redundancy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78892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1F1F"/>
                </a:solidFill>
              </a:defRPr>
            </a:pPr>
            <a:r>
              <a:t>ThreadX + NetX Duo [6] provides a complete TSN stack. Hardware: TSN-capable Ethernet MAC (NXP S32K3 [7], i.MX RT1180). IEEE 802.1DG-2025 defines the automotive TSN profile [8]. nano-ros adds E2E CRC-32 + sequence tracking (AUTOSAR E2E [9]).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1F1F"/>
                </a:solidFill>
              </a:defRPr>
            </a:pPr>
            <a:r>
              <a:t>Target Platforms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703320"/>
          <a:ext cx="8412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2860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MCU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Transport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 marT="25400" marB="25400" marL="76200">
                    <a:solidFill>
                      <a:srgbClr val="1A3C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QEMU MPS2-AN385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Cortex-M3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Ethernet / Serial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Working (dev/test)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Zephyr native_sim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x86_64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POSIX sockets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Working (CI)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NVIDIA Orin SPE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Cortex-R5F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IVC (shared memory)</a:t>
                      </a:r>
                    </a:p>
                  </a:txBody>
                  <a:tcPr anchor="ctr" marT="25400" marB="25400" marL="76200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Planned</a:t>
                      </a:r>
                    </a:p>
                  </a:txBody>
                  <a:tcPr anchor="ctr" marT="25400" marB="25400" marL="76200"/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NXP S32K3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Cortex-M7 lockstep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TSN Ethernet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F1F1F"/>
                          </a:solidFill>
                        </a:defRPr>
                      </a:pPr>
                      <a:r>
                        <a:t>Planned (ASIL D)</a:t>
                      </a:r>
                    </a:p>
                  </a:txBody>
                  <a:tcPr anchor="ctr" marT="25400" marB="25400" marL="76200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1F1F"/>
                </a:solidFill>
              </a:defRPr>
            </a:pPr>
            <a:r>
              <a:t>Open questions for the working group: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Which Autoware nodes belong on the safety island?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What ASIL level should the safety island target?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Preferred hardware platform? (Orin SPE vs. NXP S32K3 vs. both)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TSN adoption timeline?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Integration with Autoware CI?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9144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1F1F"/>
                </a:solidFill>
              </a:defRPr>
            </a:pPr>
            <a:r>
              <a:t>References: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430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[1] NVIDIA, "DRIVE OS 6.0 Safety," 2024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[2] Apex.AI, "Apex.OS — ISO 26262 ASIL D," AWF TSC 2021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[3] eSOL, "eMCOS POSIX — ASIL D RTOS"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[4] RTIC Framework — rtic.rs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[5] Baker, "Stack-Based Resource Allocation," IEEE RTSS 1990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[6] Eclipse ThreadX NetX Duo (MIT)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[7] NXP S32K3 — Cortex-M7 lockstep, ASIL D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[8] IEEE 802.1DG-2025 — Automotive TSN Profile</a:t>
            </a:r>
          </a:p>
          <a:p>
            <a:pPr>
              <a:spcBef>
                <a:spcPts val="300"/>
              </a:spcBef>
              <a:defRPr sz="1000">
                <a:solidFill>
                  <a:srgbClr val="666666"/>
                </a:solidFill>
              </a:defRPr>
            </a:pPr>
            <a:r>
              <a:t>[9] AUTOSAR E2E Protocol Spec R22-11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1F1F"/>
                </a:solidFill>
              </a:defRPr>
            </a:pPr>
            <a:r>
              <a:t>Resources: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>
                <a:solidFill>
                  <a:srgbClr val="666666"/>
                </a:solidFill>
              </a:defRPr>
            </a:pPr>
            <a:r>
              <a:t>nano-ros: github.com/nicosio2/nano-ros</a:t>
            </a:r>
          </a:p>
          <a:p>
            <a:pPr>
              <a:spcBef>
                <a:spcPts val="200"/>
              </a:spcBef>
              <a:defRPr sz="1000">
                <a:solidFill>
                  <a:srgbClr val="666666"/>
                </a:solidFill>
              </a:defRPr>
            </a:pPr>
            <a:r>
              <a:t>Safety island study: docs/research/autoware-safety-island-architecture.md</a:t>
            </a:r>
          </a:p>
          <a:p>
            <a:pPr>
              <a:spcBef>
                <a:spcPts val="200"/>
              </a:spcBef>
              <a:defRPr sz="1000">
                <a:solidFill>
                  <a:srgbClr val="666666"/>
                </a:solidFill>
              </a:defRPr>
            </a:pPr>
            <a:r>
              <a:t>TSN assessment: docs/research/tsn-safety-island-assessment.md</a:t>
            </a:r>
          </a:p>
          <a:p>
            <a:pPr>
              <a:spcBef>
                <a:spcPts val="200"/>
              </a:spcBef>
              <a:defRPr sz="1000">
                <a:solidFill>
                  <a:srgbClr val="666666"/>
                </a:solidFill>
              </a:defRPr>
            </a:pPr>
            <a:r>
              <a:t>ISO 26262 gap analysis: docs/research/autosar-iso26262-gap-analysis.md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WPS Presentation</Application>
  <PresentationFormat/>
  <Paragraphs>36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Montserrat</vt:lpstr>
      <vt:lpstr>Helvetica Neue</vt:lpstr>
      <vt:lpstr>Helvetica</vt:lpstr>
      <vt:lpstr>Nunito</vt:lpstr>
      <vt:lpstr>Microsoft YaHei</vt:lpstr>
      <vt:lpstr>黑体</vt:lpstr>
      <vt:lpstr>Arial Unicode MS</vt:lpstr>
      <vt:lpstr>思源黑体</vt:lpstr>
      <vt:lpstr>Roboto</vt:lpstr>
      <vt:lpstr>思源黑體 TW</vt:lpstr>
      <vt:lpstr>Courier New</vt:lpstr>
      <vt:lpstr>Simple Light</vt:lpstr>
      <vt:lpstr>1_Simple Light</vt:lpstr>
      <vt:lpstr>Golf Cart &amp; play_launch Updates National Taiwan University</vt:lpstr>
      <vt:lpstr>Golf Cart Platform Status</vt:lpstr>
      <vt:lpstr>Features - Per-Node Logging</vt:lpstr>
      <vt:lpstr>Features - Per-Node Logging</vt:lpstr>
      <vt:lpstr>Features - Per-Node Logging</vt:lpstr>
      <vt:lpstr>Features - Per-Node Logging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1: LiDAR-to-Camera Calibration Workshop</dc:title>
  <dc:creator/>
  <cp:lastModifiedBy>aeon</cp:lastModifiedBy>
  <cp:revision>316</cp:revision>
  <dcterms:created xsi:type="dcterms:W3CDTF">2026-03-06T13:31:08Z</dcterms:created>
  <dcterms:modified xsi:type="dcterms:W3CDTF">2026-03-06T13:31:08Z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